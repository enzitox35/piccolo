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D66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365760"/>
            <a:ext cx="2926080" cy="43891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49040" y="1371600"/>
            <a:ext cx="73152" cy="2560320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5" name="Text 2"/>
          <p:cNvSpPr/>
          <p:nvPr/>
        </p:nvSpPr>
        <p:spPr>
          <a:xfrm>
            <a:off x="3931920" y="11887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800" kern="0" dirty="0">
                <a:solidFill>
                  <a:srgbClr val="A8D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931920" y="17373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PICCOLO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3931920" y="27889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D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Asistente de Medicamentos por Voz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931920" y="3200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D5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Adultos Mayores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931920" y="3840480"/>
            <a:ext cx="2926080" cy="502920"/>
          </a:xfrm>
          <a:prstGeom prst="rect">
            <a:avLst>
              <a:gd name="adj" fmla="val 9091"/>
            </a:avLst>
          </a:prstGeom>
          <a:solidFill>
            <a:srgbClr val="C47C2E"/>
          </a:solidFill>
          <a:ln/>
        </p:spPr>
      </p:sp>
      <p:sp>
        <p:nvSpPr>
          <p:cNvPr id="10" name="Text 7"/>
          <p:cNvSpPr/>
          <p:nvPr/>
        </p:nvSpPr>
        <p:spPr>
          <a:xfrm>
            <a:off x="3931920" y="3840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DEL LENGUAJE NATURAL · 2026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93192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Práctico Integrador</a:t>
            </a:r>
            <a:endParaRPr lang="en-US" sz="1100" dirty="0"/>
          </a:p>
          <a:p>
            <a:pPr indent="0" marL="0">
              <a:buNone/>
            </a:pPr>
            <a:r>
              <a:rPr lang="es-AR" sz="1000" b="1" dirty="0">
                <a:solidFill>
                  <a:srgbClr val="A8D5B5"/>
                </a:solidFill>
                <a:latin typeface="Calibri" pitchFamily="34" charset="0"/>
              </a:rPr>
              <a:t>Enzo Mellado  ·  Gladys González  ·  Lucas Pardo</a:t>
            </a:r>
            <a:endParaRPr lang="es-AR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el Sistema Piccolo?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023360" cy="73152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adultos mayores enfrentan dificultades para recordar información sobre sus medicamentos: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Cuándo tomarlos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Qué efectos tienen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Qué precauciones seguir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Piccolo centraliza este conocimiento y lo hace accesible mediante lenguaje natural hablado y escrito.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114800" cy="73152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 Principales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 Consulta por voz (ASR) y texto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13969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Respuesta hablada TTS voz femenina argentina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54203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Información de 10 medicamentos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9443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🤒  Reconocimiento de síntomas cotidianos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34670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Triaje inteligente de presión arterial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749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Dashboard con 7 visualizaciones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41513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Evaluación WER · Perplejidad · P/R/F1 · NER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078992" cy="1005840"/>
          </a:xfrm>
          <a:prstGeom prst="rect">
            <a:avLst/>
          </a:prstGeom>
          <a:solidFill>
            <a:srgbClr val="2D664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078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/ 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353312" y="1600200"/>
            <a:ext cx="155448" cy="0"/>
          </a:xfrm>
          <a:prstGeom prst="line">
            <a:avLst/>
          </a:prstGeom>
          <a:noFill/>
          <a:ln w="25400">
            <a:solidFill>
              <a:srgbClr val="1C3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097280"/>
            <a:ext cx="1078992" cy="1005840"/>
          </a:xfrm>
          <a:prstGeom prst="rect">
            <a:avLst/>
          </a:prstGeom>
          <a:solidFill>
            <a:srgbClr val="4A8C62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08760" y="1097280"/>
            <a:ext cx="1078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Speech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87752" y="1600200"/>
            <a:ext cx="155448" cy="0"/>
          </a:xfrm>
          <a:prstGeom prst="line">
            <a:avLst/>
          </a:prstGeom>
          <a:noFill/>
          <a:ln w="25400">
            <a:solidFill>
              <a:srgbClr val="1C3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1097280"/>
            <a:ext cx="1078992" cy="1005840"/>
          </a:xfrm>
          <a:prstGeom prst="rect">
            <a:avLst/>
          </a:prstGeom>
          <a:solidFill>
            <a:srgbClr val="2D664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1097280"/>
            <a:ext cx="1078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· NER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2192" y="1600200"/>
            <a:ext cx="155448" cy="0"/>
          </a:xfrm>
          <a:prstGeom prst="line">
            <a:avLst/>
          </a:prstGeom>
          <a:noFill/>
          <a:ln w="25400">
            <a:solidFill>
              <a:srgbClr val="1C3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77640" y="1097280"/>
            <a:ext cx="1078992" cy="1005840"/>
          </a:xfrm>
          <a:prstGeom prst="rect">
            <a:avLst/>
          </a:prstGeom>
          <a:solidFill>
            <a:srgbClr val="C47C2E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77640" y="1097280"/>
            <a:ext cx="1078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Triaje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TA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56632" y="1600200"/>
            <a:ext cx="155448" cy="0"/>
          </a:xfrm>
          <a:prstGeom prst="line">
            <a:avLst/>
          </a:prstGeom>
          <a:noFill/>
          <a:ln w="25400">
            <a:solidFill>
              <a:srgbClr val="1C3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097280"/>
            <a:ext cx="1078992" cy="1005840"/>
          </a:xfrm>
          <a:prstGeom prst="rect">
            <a:avLst/>
          </a:prstGeom>
          <a:solidFill>
            <a:srgbClr val="4A8C62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1097280"/>
            <a:ext cx="1078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IR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91072" y="1600200"/>
            <a:ext cx="155448" cy="0"/>
          </a:xfrm>
          <a:prstGeom prst="line">
            <a:avLst/>
          </a:prstGeom>
          <a:noFill/>
          <a:ln w="25400">
            <a:solidFill>
              <a:srgbClr val="1C3A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097280"/>
            <a:ext cx="1078992" cy="1005840"/>
          </a:xfrm>
          <a:prstGeom prst="rect">
            <a:avLst/>
          </a:prstGeom>
          <a:solidFill>
            <a:srgbClr val="2D6645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1097280"/>
            <a:ext cx="1078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 com.ar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525512" y="1600200"/>
            <a:ext cx="155448" cy="0"/>
          </a:xfrm>
          <a:prstGeom prst="line">
            <a:avLst/>
          </a:prstGeom>
          <a:noFill/>
          <a:ln w="25400">
            <a:solidFill>
              <a:srgbClr val="1C3A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1097280"/>
            <a:ext cx="1078992" cy="1005840"/>
          </a:xfrm>
          <a:prstGeom prst="rect">
            <a:avLst/>
          </a:prstGeom>
          <a:solidFill>
            <a:srgbClr val="1C5A3A"/>
          </a:solidFill>
          <a:ln/>
          <a:effectLst>
            <a:outerShdw sx="100000" sy="100000" kx="0" ky="0" algn="bl" rotWithShape="0" blurRad="50800" dist="25400" dir="162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680960" y="1097280"/>
            <a:ext cx="10789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2331720"/>
            <a:ext cx="8595360" cy="347472"/>
          </a:xfrm>
          <a:prstGeom prst="rect">
            <a:avLst/>
          </a:prstGeom>
          <a:solidFill>
            <a:srgbClr val="1C3A2E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2331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2331720"/>
            <a:ext cx="6035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679192"/>
            <a:ext cx="85953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267919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modules/db.py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51760" y="2679192"/>
            <a:ext cx="6035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5 tablas · CRUD completo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980944"/>
            <a:ext cx="8595360" cy="301752"/>
          </a:xfrm>
          <a:prstGeom prst="rect">
            <a:avLst/>
          </a:prstGeom>
          <a:solidFill>
            <a:srgbClr val="EDF5EF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980944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modules/nlp.py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651760" y="2980944"/>
            <a:ext cx="6035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Tokenización spaCy · POS · NER · 8 intenciones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3282696"/>
            <a:ext cx="85953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3282696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modules/ngrams.py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651760" y="3282696"/>
            <a:ext cx="6035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Bigramas/trigramas · suavizado Add-k · perplejidad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74320" y="3584448"/>
            <a:ext cx="8595360" cy="301752"/>
          </a:xfrm>
          <a:prstGeom prst="rect">
            <a:avLst/>
          </a:prstGeom>
          <a:solidFill>
            <a:srgbClr val="EDF5EF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358444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modules/search.py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651760" y="3584448"/>
            <a:ext cx="6035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invertido · TF-IDF · similitud coseno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3886200"/>
            <a:ext cx="85953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88620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modules/asr.py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651760" y="3886200"/>
            <a:ext cx="6035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Speech API · WebM→WAV · WER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74320" y="4187952"/>
            <a:ext cx="8595360" cy="301752"/>
          </a:xfrm>
          <a:prstGeom prst="rect">
            <a:avLst/>
          </a:prstGeom>
          <a:solidFill>
            <a:srgbClr val="EDF5EF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418795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modules/tts.py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651760" y="4187952"/>
            <a:ext cx="6035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gTTS voz femenina argentina · MP3 en bytes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489704"/>
            <a:ext cx="859536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489704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modules/dashboard.py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2651760" y="4489704"/>
            <a:ext cx="6035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de palabras · top consultas · métricas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4791456"/>
            <a:ext cx="8595360" cy="301752"/>
          </a:xfrm>
          <a:prstGeom prst="rect">
            <a:avLst/>
          </a:prstGeom>
          <a:solidFill>
            <a:srgbClr val="EDF5EF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4791456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3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2651760" y="4791456"/>
            <a:ext cx="6035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5 secciones + Admin · CSS temático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Módulos NLP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73152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 — Reconocimiento de Entidades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73152" cy="640080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373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Diccionario 15 fármacos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1945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enalapril, metformina...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697480"/>
            <a:ext cx="73152" cy="640080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6974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Regex: \d+mg/ml...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15468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20 mg, 2 comprimidos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657600"/>
            <a:ext cx="73152" cy="640080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657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93192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Regex patrones coloquiales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41148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cada 8 hs, a la mañana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1148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51560"/>
            <a:ext cx="4114800" cy="73152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1143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Intenciones Detectadas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1691640"/>
            <a:ext cx="3794760" cy="320040"/>
          </a:xfrm>
          <a:prstGeom prst="rect">
            <a:avLst/>
          </a:prstGeom>
          <a:solidFill>
            <a:srgbClr val="EDF5EF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consultar_para_que_sirve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92040" y="2066544"/>
            <a:ext cx="3794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0665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consultar_cuidados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92040" y="2441448"/>
            <a:ext cx="3794760" cy="320040"/>
          </a:xfrm>
          <a:prstGeom prst="rect">
            <a:avLst/>
          </a:prstGeom>
          <a:solidFill>
            <a:srgbClr val="EDF5EF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24414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consultar_consejo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2816352"/>
            <a:ext cx="3794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2816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consultar_tipo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92040" y="3191256"/>
            <a:ext cx="3794760" cy="320040"/>
          </a:xfrm>
          <a:prstGeom prst="rect">
            <a:avLst/>
          </a:prstGeom>
          <a:solidFill>
            <a:srgbClr val="EDF5EF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1912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consultar_que_hace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92040" y="3566160"/>
            <a:ext cx="3794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98348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consultar_para_quien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892040" y="3941064"/>
            <a:ext cx="3794760" cy="320040"/>
          </a:xfrm>
          <a:prstGeom prst="rect">
            <a:avLst/>
          </a:prstGeom>
          <a:solidFill>
            <a:srgbClr val="EDF5EF"/>
          </a:solidFill>
          <a:ln/>
        </p:spPr>
      </p:sp>
      <p:sp>
        <p:nvSpPr>
          <p:cNvPr id="35" name="Text 33"/>
          <p:cNvSpPr/>
          <p:nvPr/>
        </p:nvSpPr>
        <p:spPr>
          <a:xfrm>
            <a:off x="4983480" y="39410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agregar_alarma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92040" y="4315968"/>
            <a:ext cx="37947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983480" y="43159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saludo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N-Gramas &amp; Motor de Búsqueda IR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73152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🌀 Modelo N-Gramas (modules/ngrams.py)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764792"/>
            <a:ext cx="64008" cy="457200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647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0253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frases coloquiales del dominio de medicamentos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377440"/>
            <a:ext cx="64008" cy="457200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774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Bigramas y Trigramas con vocabulario del corpus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990088"/>
            <a:ext cx="64008" cy="457200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9008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Suavizado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2783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Add-k configurable (k=0 MLE, k=1 Laplace, k=0.1 ajustado)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602736"/>
            <a:ext cx="64008" cy="457200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027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Perplejidad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404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baja (&lt;50) = consulta del dominio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 alta (&gt;150) = fuera del dominio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215384"/>
            <a:ext cx="64008" cy="457200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21538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4531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serializado — carga con @st.cache_resource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051560"/>
            <a:ext cx="411480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051560"/>
            <a:ext cx="4114800" cy="73152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1143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Motor de Búsqueda IR (modules/search.py)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92040" y="1764792"/>
            <a:ext cx="64008" cy="457200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764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invertido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0025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documentos (1 por medicamento) con TF normalizado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2377440"/>
            <a:ext cx="64008" cy="457200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26151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= TF × log((N+1)/(df+1)+1) con suavizado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990088"/>
            <a:ext cx="64008" cy="457200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29900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0" y="32278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Similitud coseno entre vector consulta y documentos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602736"/>
            <a:ext cx="64008" cy="457200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60273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38404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consultas etiquetadas → P / R / F1 top-3 docs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4215384"/>
            <a:ext cx="64008" cy="457200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42153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029200" y="4453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cuando no se detecta medicamento ni síntoma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 Especiales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8595360" cy="73152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🩺 Triaje Inteligente de Presión Arterial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609344"/>
            <a:ext cx="2651760" cy="1097280"/>
          </a:xfrm>
          <a:prstGeom prst="rect">
            <a:avLst/>
          </a:prstGeom>
          <a:solidFill>
            <a:srgbClr val="FDF0F0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609344"/>
            <a:ext cx="64008" cy="1097280"/>
          </a:xfrm>
          <a:prstGeom prst="rect">
            <a:avLst/>
          </a:prstGeom>
          <a:solidFill>
            <a:srgbClr val="E05050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" y="16459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CRÍTICA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1993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Sistólica ≥ 180 ó Diastólica ≥ 120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1208" y="22311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emergencias inmediatamente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46120" y="1609344"/>
            <a:ext cx="2651760" cy="1097280"/>
          </a:xfrm>
          <a:prstGeom prst="rect">
            <a:avLst/>
          </a:prstGeom>
          <a:solidFill>
            <a:srgbClr val="FEF8ED"/>
          </a:solidFill>
          <a:ln/>
        </p:spPr>
      </p:sp>
      <p:sp>
        <p:nvSpPr>
          <p:cNvPr id="13" name="Shape 11"/>
          <p:cNvSpPr/>
          <p:nvPr/>
        </p:nvSpPr>
        <p:spPr>
          <a:xfrm>
            <a:off x="3246120" y="1609344"/>
            <a:ext cx="64008" cy="1097280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16459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ALTA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55848" y="1993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Sistólica ≥ 140 ó Diastólica ≥ 90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55848" y="22311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Descansar, no hacer esfuerzos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0760" y="1609344"/>
            <a:ext cx="2651760" cy="1097280"/>
          </a:xfrm>
          <a:prstGeom prst="rect">
            <a:avLst/>
          </a:prstGeom>
          <a:solidFill>
            <a:srgbClr val="EDF5E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0760" y="1609344"/>
            <a:ext cx="64008" cy="1097280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19" name="Text 17"/>
          <p:cNvSpPr/>
          <p:nvPr/>
        </p:nvSpPr>
        <p:spPr>
          <a:xfrm>
            <a:off x="6190488" y="164592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NORMAL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0488" y="19933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debajo de los umbrales anteriores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90488" y="22311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¡Excelente! Seguir cuidándose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63240"/>
            <a:ext cx="4114800" cy="73152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455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🎤 ASR — Reconocimiento de Voz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35661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WebM/OGG → WAV mono 16kHz (pydub + ffmpeg)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Web Speech API idioma es-AR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WER con algoritmo Wagner-Fischer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Ajuste de ruido ambiente automático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63240"/>
            <a:ext cx="4114800" cy="73152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1455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🔊 TTS — Síntesis de Voz Femenina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356616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gTTS con tld='com.ar' → voz femenina argentina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Audio MP3 en bytes (sin archivos temporales)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Compatible con st.audio() de Streamlit
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Expansión de abreviaturas: mg → miligramos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— 7 Visualizaciones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840480" cy="3749040"/>
          </a:xfrm>
          <a:prstGeom prst="rect">
            <a:avLst/>
          </a:prstGeom>
          <a:solidFill>
            <a:srgbClr val="1C2E24"/>
          </a:solidFill>
          <a:ln/>
          <a:effectLst>
            <a:outerShdw sx="100000" sy="100000" kx="0" ky="0" algn="bl" rotWithShape="0" blurRad="101600" dist="38100" dir="162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3749040" cy="3611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663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real del sistema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89120" y="1051560"/>
            <a:ext cx="448056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389120" y="1051560"/>
            <a:ext cx="4480560" cy="73152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0" y="1143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Contenido del Dashboard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0" y="169164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4 Tarjetas métricas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09160" y="19202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· WER · Perplejidad · Tiempo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572000" y="213969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🔝  Top 10 consultas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709160" y="236829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de barras + tabla frecuencias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0" y="25877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Torta de intenciones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709160" y="281635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% de intenciones detectadas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0" y="30358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Evolución temporal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709160" y="3264408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consultas por día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0" y="34838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Nube de palabras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709160" y="3712464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wordcloud dinámico sobre historial real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0" y="3931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👑  Métricas IR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709160" y="416052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Precisión · Recall de última evaluación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0" y="43799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Tabla historial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709160" y="460857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Últimas 20 consultas con métricas NLP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Evaluación Cuantitativa del Sistema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475488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📏 WER — Voz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 frases de referencia del dominio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Protocolo: lectura en voz alta + captura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2677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WER = (S+D+I) / N por frase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578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Estadísticas: promedio, desvío, mín/máx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4114800" cy="475488"/>
          </a:xfrm>
          <a:prstGeom prst="rect">
            <a:avLst/>
          </a:prstGeom>
          <a:solidFill>
            <a:srgbClr val="4A8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9728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🌀 Perplejidad N-Gramas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6459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Bigramas y trigramas con Add-k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19568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Dominio: PP &lt; 50 | Fuera: PP &gt; 150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0" y="226771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Validación discriminativa del modelo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25786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Configurable: k entre 0.01 y 5.0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108960"/>
            <a:ext cx="4114800" cy="475488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1089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🔍 P / R / F1 — 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657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10 consultas con relevancia etiquetada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39684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Evaluación sobre top-3 documentos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42793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Precisión, Recall y F1 promedio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11480" y="4590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Resultados guardados en SQLite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1089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108960"/>
            <a:ext cx="4114800" cy="475488"/>
          </a:xfrm>
          <a:prstGeom prst="rect">
            <a:avLst/>
          </a:prstGeom>
          <a:solidFill>
            <a:srgbClr val="1C3A2E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310896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🏷️ Accuracy NER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6576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 ejemplos anotados manualmente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39684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Entidades: MEDICAMENTO · DOSIS · FRECUENCIA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42793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Accuracy por tipo + accuracy global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45902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Detalle de cada ejemplo en expander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C3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Instalación y Ejecución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Instalar ffmpeg (Windows)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1444752"/>
            <a:ext cx="7863840" cy="411480"/>
          </a:xfrm>
          <a:prstGeom prst="rect">
            <a:avLst/>
          </a:prstGeom>
          <a:solidFill>
            <a:srgbClr val="1C2E2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44475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winget install ffmpeg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57400"/>
            <a:ext cx="502920" cy="502920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601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Instalar dependencias Python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2404872"/>
            <a:ext cx="7863840" cy="411480"/>
          </a:xfrm>
          <a:prstGeom prst="rect">
            <a:avLst/>
          </a:prstGeom>
          <a:solidFill>
            <a:srgbClr val="1C2E24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40487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502920" cy="502920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Descargar modelo spaCy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0120" y="3364992"/>
            <a:ext cx="7863840" cy="411480"/>
          </a:xfrm>
          <a:prstGeom prst="rect">
            <a:avLst/>
          </a:prstGeom>
          <a:solidFill>
            <a:srgbClr val="1C2E24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336499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spacy download es_core_news_sm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" y="3977640"/>
            <a:ext cx="502920" cy="502920"/>
          </a:xfrm>
          <a:prstGeom prst="rect">
            <a:avLst/>
          </a:prstGeom>
          <a:solidFill>
            <a:srgbClr val="2D6645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6012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Ejecutar la aplicación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0120" y="4325112"/>
            <a:ext cx="7863840" cy="411480"/>
          </a:xfrm>
          <a:prstGeom prst="rect">
            <a:avLst/>
          </a:prstGeom>
          <a:solidFill>
            <a:srgbClr val="1C2E24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32511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C2E24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5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 de evaluación: python tests/eval_wer.py   |   python tests/eval_search.py   |   python tests/eval_ner.py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2D664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274320"/>
            <a:ext cx="310896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72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1170432"/>
            <a:ext cx="64008" cy="2926080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6" name="Text 3"/>
          <p:cNvSpPr/>
          <p:nvPr/>
        </p:nvSpPr>
        <p:spPr>
          <a:xfrm>
            <a:off x="658368" y="1261872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 las 3 áreas del curso: N-Gramas, IR y ASR/TTS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173736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Resuelve un problema real para adultos mayores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8368" y="2212848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Triaje de presión arterial: innovación sobre el enunciado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" y="2688336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Voz femenina argentina mejora la calidez del sistema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3163824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con métricas reales de calidad NLP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251960"/>
            <a:ext cx="2926080" cy="502920"/>
          </a:xfrm>
          <a:prstGeom prst="rect">
            <a:avLst/>
          </a:prstGeom>
          <a:solidFill>
            <a:srgbClr val="C47C2E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" y="4251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PLN · 2026 · Sistema Piccolo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Piccolo</dc:title>
  <dc:subject>PptxGenJS Presentation</dc:subject>
  <dc:creator>PptxGenJS</dc:creator>
  <cp:lastModifiedBy>PptxGenJS</cp:lastModifiedBy>
  <cp:revision>1</cp:revision>
  <dcterms:created xsi:type="dcterms:W3CDTF">2026-06-06T01:20:30Z</dcterms:created>
  <dcterms:modified xsi:type="dcterms:W3CDTF">2026-06-06T01:20:30Z</dcterms:modified>
</cp:coreProperties>
</file>